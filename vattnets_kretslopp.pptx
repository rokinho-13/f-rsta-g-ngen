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Vattnets Kretslopp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Den Hydrologiska Cykeln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Hydrologi &amp; Geovetenskap | Universitetsnivå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Den Hydrologiska Cykeln - Översikt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Definition: Kontinuerlig cirkulation av vatten genom atmosfären, hydrosfären, litosfären och biosfären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Huvudprocesser:</a:t>
            </a:r>
          </a:p>
          <a:p>
            <a:pPr>
              <a:spcAft>
                <a:spcPts val="600"/>
              </a:spcAft>
              <a:defRPr sz="1800"/>
            </a:pPr>
            <a:r>
              <a:t>• Evaporation (E) - Övergång från vätska till gas</a:t>
            </a:r>
          </a:p>
          <a:p>
            <a:pPr>
              <a:spcAft>
                <a:spcPts val="600"/>
              </a:spcAft>
              <a:defRPr sz="1800"/>
            </a:pPr>
            <a:r>
              <a:t>• Transpiration (T) - Vattenavgivning från växter</a:t>
            </a:r>
          </a:p>
          <a:p>
            <a:pPr>
              <a:spcAft>
                <a:spcPts val="600"/>
              </a:spcAft>
              <a:defRPr sz="1800"/>
            </a:pPr>
            <a:r>
              <a:t>• Kondensation - Övergång från gas till vätska</a:t>
            </a:r>
          </a:p>
          <a:p>
            <a:pPr>
              <a:spcAft>
                <a:spcPts val="600"/>
              </a:spcAft>
              <a:defRPr sz="1800"/>
            </a:pPr>
            <a:r>
              <a:t>• Precipitation (P) - Nederbörd i alla former</a:t>
            </a:r>
          </a:p>
          <a:p>
            <a:pPr>
              <a:spcAft>
                <a:spcPts val="600"/>
              </a:spcAft>
              <a:defRPr sz="1800"/>
            </a:pPr>
            <a:r>
              <a:t>• Runoff (R) - Ytavrinning till vattendrag</a:t>
            </a:r>
          </a:p>
          <a:p>
            <a:pPr>
              <a:spcAft>
                <a:spcPts val="600"/>
              </a:spcAft>
              <a:defRPr sz="1800"/>
            </a:pPr>
            <a:r>
              <a:t>• Infiltration (I) - Nedträngning i marken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Vattenbalanssekvation:</a:t>
            </a:r>
          </a:p>
          <a:p>
            <a:pPr>
              <a:spcAft>
                <a:spcPts val="600"/>
              </a:spcAft>
              <a:defRPr sz="1800"/>
            </a:pPr>
            <a:r>
              <a:t>P = E + T + R + ΔS    (där ΔS = förändring i lagring)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Evapotranspiration (ET)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/>
            </a:pPr>
            <a:r>
              <a:t>Evaporation:</a:t>
            </a:r>
          </a:p>
          <a:p>
            <a:pPr>
              <a:spcAft>
                <a:spcPts val="500"/>
              </a:spcAft>
              <a:defRPr sz="1700"/>
            </a:pPr>
            <a:r>
              <a:t>• Energikrävande process: ~2,45 MJ/kg (latent värme)</a:t>
            </a:r>
          </a:p>
          <a:p>
            <a:pPr>
              <a:spcAft>
                <a:spcPts val="500"/>
              </a:spcAft>
              <a:defRPr sz="1700"/>
            </a:pPr>
            <a:r>
              <a:t>• Styrs av: strålning, temperatur, vindhastighet, luftfuktighet</a:t>
            </a:r>
          </a:p>
          <a:p>
            <a:pPr>
              <a:spcAft>
                <a:spcPts val="500"/>
              </a:spcAft>
              <a:defRPr sz="1700"/>
            </a:pPr>
            <a:r>
              <a:t>• Penman-ekvationen uppskattar potentiell evaporation</a:t>
            </a:r>
          </a:p>
          <a:p>
            <a:pPr>
              <a:spcAft>
                <a:spcPts val="500"/>
              </a:spcAft>
              <a:defRPr sz="1700"/>
            </a:pPr>
          </a:p>
          <a:p>
            <a:pPr>
              <a:spcAft>
                <a:spcPts val="500"/>
              </a:spcAft>
              <a:defRPr sz="1700"/>
            </a:pPr>
            <a:r>
              <a:t>Transpiration:</a:t>
            </a:r>
          </a:p>
          <a:p>
            <a:pPr>
              <a:spcAft>
                <a:spcPts val="500"/>
              </a:spcAft>
              <a:defRPr sz="1700"/>
            </a:pPr>
            <a:r>
              <a:t>• Biologisk process via växternas stomata</a:t>
            </a:r>
          </a:p>
          <a:p>
            <a:pPr>
              <a:spcAft>
                <a:spcPts val="500"/>
              </a:spcAft>
              <a:defRPr sz="1700"/>
            </a:pPr>
            <a:r>
              <a:t>• 95-99% av växternas vattenupptag transpireras</a:t>
            </a:r>
          </a:p>
          <a:p>
            <a:pPr>
              <a:spcAft>
                <a:spcPts val="500"/>
              </a:spcAft>
              <a:defRPr sz="1700"/>
            </a:pPr>
            <a:r>
              <a:t>• Regleras av: LAI (Leaf Area Index), markfuktighet, VPD</a:t>
            </a:r>
          </a:p>
          <a:p>
            <a:pPr>
              <a:spcAft>
                <a:spcPts val="500"/>
              </a:spcAft>
              <a:defRPr sz="1700"/>
            </a:pPr>
          </a:p>
          <a:p>
            <a:pPr>
              <a:spcAft>
                <a:spcPts val="500"/>
              </a:spcAft>
              <a:defRPr sz="1700"/>
            </a:pPr>
            <a:r>
              <a:t>Penman-Monteith ekvation (FAO-56):</a:t>
            </a:r>
          </a:p>
          <a:p>
            <a:pPr>
              <a:spcAft>
                <a:spcPts val="500"/>
              </a:spcAft>
              <a:defRPr sz="1700"/>
            </a:pPr>
            <a:r>
              <a:t>ET₀ = [0.408Δ(Rn-G) + γ(900/(T+273))u₂(es-ea)] / [Δ + γ(1+0.34u₂)]</a:t>
            </a:r>
          </a:p>
          <a:p>
            <a:pPr>
              <a:spcAft>
                <a:spcPts val="500"/>
              </a:spcAft>
              <a:defRPr sz="1700"/>
            </a:pPr>
          </a:p>
          <a:p>
            <a:pPr>
              <a:spcAft>
                <a:spcPts val="500"/>
              </a:spcAft>
              <a:defRPr sz="1700"/>
            </a:pPr>
            <a:r>
              <a:t>Globalt: ~70% av nederbörden återgår via 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Kondensation &amp; Precipitation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/>
            </a:pPr>
            <a:r>
              <a:t>Kondensation:</a:t>
            </a:r>
          </a:p>
          <a:p>
            <a:pPr>
              <a:spcAft>
                <a:spcPts val="500"/>
              </a:spcAft>
              <a:defRPr sz="1700"/>
            </a:pPr>
            <a:r>
              <a:t>• Kräver kondensationskärnor (CCN) - aerosol, damm, salt</a:t>
            </a:r>
          </a:p>
          <a:p>
            <a:pPr>
              <a:spcAft>
                <a:spcPts val="500"/>
              </a:spcAft>
              <a:defRPr sz="1700"/>
            </a:pPr>
            <a:r>
              <a:t>• Sker när luften når daggpunkten (100% RH)</a:t>
            </a:r>
          </a:p>
          <a:p>
            <a:pPr>
              <a:spcAft>
                <a:spcPts val="500"/>
              </a:spcAft>
              <a:defRPr sz="1700"/>
            </a:pPr>
            <a:r>
              <a:t>• Adiabatisk kylning: ~6-10°C/1000m (torr/fuktig)</a:t>
            </a:r>
          </a:p>
          <a:p>
            <a:pPr>
              <a:spcAft>
                <a:spcPts val="500"/>
              </a:spcAft>
              <a:defRPr sz="1700"/>
            </a:pPr>
          </a:p>
          <a:p>
            <a:pPr>
              <a:spcAft>
                <a:spcPts val="500"/>
              </a:spcAft>
              <a:defRPr sz="1700"/>
            </a:pPr>
            <a:r>
              <a:t>Precipitationstyper:</a:t>
            </a:r>
          </a:p>
          <a:p>
            <a:pPr>
              <a:spcAft>
                <a:spcPts val="500"/>
              </a:spcAft>
              <a:defRPr sz="1700"/>
            </a:pPr>
            <a:r>
              <a:t>• Konvektiv - lokal uppvärmning, intensiv, kort duration</a:t>
            </a:r>
          </a:p>
          <a:p>
            <a:pPr>
              <a:spcAft>
                <a:spcPts val="500"/>
              </a:spcAft>
              <a:defRPr sz="1700"/>
            </a:pPr>
            <a:r>
              <a:t>• Orografisk - tvingad lyftning över berg</a:t>
            </a:r>
          </a:p>
          <a:p>
            <a:pPr>
              <a:spcAft>
                <a:spcPts val="500"/>
              </a:spcAft>
              <a:defRPr sz="1700"/>
            </a:pPr>
            <a:r>
              <a:t>• Frontal/Cyklonal - luftmassor möts vid fronter</a:t>
            </a:r>
          </a:p>
          <a:p>
            <a:pPr>
              <a:spcAft>
                <a:spcPts val="500"/>
              </a:spcAft>
              <a:defRPr sz="1700"/>
            </a:pPr>
          </a:p>
          <a:p>
            <a:pPr>
              <a:spcAft>
                <a:spcPts val="500"/>
              </a:spcAft>
              <a:defRPr sz="1700"/>
            </a:pPr>
            <a:r>
              <a:t>Mätning och analys:</a:t>
            </a:r>
          </a:p>
          <a:p>
            <a:pPr>
              <a:spcAft>
                <a:spcPts val="500"/>
              </a:spcAft>
              <a:defRPr sz="1700"/>
            </a:pPr>
            <a:r>
              <a:t>• Punktmätning: regnmätare (mm)</a:t>
            </a:r>
          </a:p>
          <a:p>
            <a:pPr>
              <a:spcAft>
                <a:spcPts val="500"/>
              </a:spcAft>
              <a:defRPr sz="1700"/>
            </a:pPr>
            <a:r>
              <a:t>• Spatial: radar (Z-R relation: Z = aRᵇ), satellit</a:t>
            </a:r>
          </a:p>
          <a:p>
            <a:pPr>
              <a:spcAft>
                <a:spcPts val="500"/>
              </a:spcAft>
              <a:defRPr sz="1700"/>
            </a:pPr>
            <a:r>
              <a:t>• IDF-kurvor: Intensity-Duration-Frequency för dimensionering</a:t>
            </a:r>
          </a:p>
          <a:p>
            <a:pPr>
              <a:spcAft>
                <a:spcPts val="500"/>
              </a:spcAft>
              <a:defRPr sz="1700"/>
            </a:pPr>
          </a:p>
          <a:p>
            <a:pPr>
              <a:spcAft>
                <a:spcPts val="500"/>
              </a:spcAft>
              <a:defRPr sz="1700"/>
            </a:pPr>
            <a:r>
              <a:t>Global medelårsnederbörd: ~1000 mm/år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Avrinning &amp; Grundvatten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Ytavrinning (Runoff):</a:t>
            </a:r>
          </a:p>
          <a:p>
            <a:pPr>
              <a:spcAft>
                <a:spcPts val="400"/>
              </a:spcAft>
              <a:defRPr sz="1600"/>
            </a:pPr>
            <a:r>
              <a:t>• Hortonian overland flow - när P &gt; infiltrationskapacitet</a:t>
            </a:r>
          </a:p>
          <a:p>
            <a:pPr>
              <a:spcAft>
                <a:spcPts val="400"/>
              </a:spcAft>
              <a:defRPr sz="1600"/>
            </a:pPr>
            <a:r>
              <a:t>• Saturation excess - när marken är vattenmättad</a:t>
            </a:r>
          </a:p>
          <a:p>
            <a:pPr>
              <a:spcAft>
                <a:spcPts val="400"/>
              </a:spcAft>
              <a:defRPr sz="1600"/>
            </a:pPr>
            <a:r>
              <a:t>• Avrinningskoefficient: C = R/P (varierar 0.1-0.9)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Infiltration &amp; Grundvatten:</a:t>
            </a:r>
          </a:p>
          <a:p>
            <a:pPr>
              <a:spcAft>
                <a:spcPts val="400"/>
              </a:spcAft>
              <a:defRPr sz="1600"/>
            </a:pPr>
            <a:r>
              <a:t>• Darcys lag: Q = -K·A·(dh/dl)</a:t>
            </a:r>
          </a:p>
          <a:p>
            <a:pPr>
              <a:spcAft>
                <a:spcPts val="400"/>
              </a:spcAft>
              <a:defRPr sz="1600"/>
            </a:pPr>
            <a:r>
              <a:t>• Hydraulisk konduktivitet (K): lera ~10⁻⁹ m/s, sand ~10⁻⁴ m/s</a:t>
            </a:r>
          </a:p>
          <a:p>
            <a:pPr>
              <a:spcAft>
                <a:spcPts val="400"/>
              </a:spcAft>
              <a:defRPr sz="1600"/>
            </a:pPr>
            <a:r>
              <a:t>• Akviferer: confined (artesisk) vs unconfined (fri yta)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Uppehållstider i systemet:</a:t>
            </a:r>
          </a:p>
          <a:p>
            <a:pPr>
              <a:spcAft>
                <a:spcPts val="400"/>
              </a:spcAft>
              <a:defRPr sz="1600"/>
            </a:pPr>
            <a:r>
              <a:t>• Atmosfär: ~9 dagar</a:t>
            </a:r>
          </a:p>
          <a:p>
            <a:pPr>
              <a:spcAft>
                <a:spcPts val="400"/>
              </a:spcAft>
              <a:defRPr sz="1600"/>
            </a:pPr>
            <a:r>
              <a:t>• Floder: ~2 veckor</a:t>
            </a:r>
          </a:p>
          <a:p>
            <a:pPr>
              <a:spcAft>
                <a:spcPts val="400"/>
              </a:spcAft>
              <a:defRPr sz="1600"/>
            </a:pPr>
            <a:r>
              <a:t>• Grundvatten: 100-10 000 år</a:t>
            </a:r>
          </a:p>
          <a:p>
            <a:pPr>
              <a:spcAft>
                <a:spcPts val="400"/>
              </a:spcAft>
              <a:defRPr sz="1600"/>
            </a:pPr>
            <a:r>
              <a:t>• Oceaner: ~3 000 år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Klimatförändringens påverkan: intensifierad cykel, extremer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